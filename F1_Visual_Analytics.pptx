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6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 (~20s). We're Group 3. Our project turns raw Formula 1 data into a single interactive dashboard for performance, strategy and circuit analysis. We'll spend ~5 min on context, then go straight into a live demo of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F1 data is rich but normalized across many tables, so even a basic question needs several joins. Our goal was one dashboard where every module reads a single cleaned, feature-engineered table — that shared source is what keeps all charts consistent. Built in Python with Pandas, Dash and Plotly.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~50s. Sourced from the Ergast API, restricted to the current 2019-24 era: 2,559 driver-race records, 31 circuits, 27 countries, 15 constructors. Pipeline: filter, clean and validate keys, aggregate lap and pit tables, then merge into one denormalized table — one row per driver per race — enriched with shared performance, reliability, strategy and championship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~40s. The dashboard has seven modules, each built around a specific analytical question rather than a decorative chart. This is the map for the demo you're about to see — we'll move through these in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~60s. Five headline findings — we'll show the evidence for each live. Qualifying is a moderate, not deciding, factor. Dominance shifted Mercedes to Red Bull mid-window. Circuit layout, not car development, drives lap-speed variation. Race pace beats pit execution. And one shared pipeline keeps everything consistent.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~20s. Each module was owned by a team member; the data pipeline and dashboard shell were shared foundations everyone built on top 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~15s + hand off to demo. Two honest caveats to mention if asked: the DNF flag counts lapped finishers so it over-states true retirements, and we swapped scatter plots for density/jitter once volume made them unreadable. Now switching to the live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960120" cy="96012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" y="10268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DATA VISUAL ANALYTICS  ·  CS661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514600"/>
            <a:ext cx="11155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VISUAL ANALYTICS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548640" y="3611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Dashboard for Performance, Strategy &amp; Circuit Intelligence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548640" y="4526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3   ·   Summer Term 2025–26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Shreyansh Singh  ·  Daksh Singh  ·  Nishant Singh  ·  Harsh Maheshwari  ·  Pruthviraj Meghe  ·  Snehasish Haldar  ·  Pratik Kumar  ·  Vishal Kumar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F1 → Visual Analytics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MOTIVATION &amp; OBJECTIVE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640080" cy="64008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5922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Problem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7432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produces rich, relational, normalized data every weekend — spread across many small tables (races, results, qualifying, laps, pit stops, standings).</a:t>
            </a:r>
            <a:endParaRPr lang="en-US" sz="13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a simple question — “does starting position decide the result?” — needs several joins before a single chart can be drawn.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349240" cy="3246120"/>
          </a:xfrm>
          <a:prstGeom prst="roundRect">
            <a:avLst>
              <a:gd name="adj" fmla="val 253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1892808"/>
            <a:ext cx="640080" cy="64008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5821" y="205922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9659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Goal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27432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the raw relational dataset into one interactive dashboard.</a:t>
            </a:r>
            <a:endParaRPr lang="en-US" sz="1350" dirty="0"/>
          </a:p>
          <a:p>
            <a:pPr marL="177800" indent="-177800">
              <a:lnSpc>
                <a:spcPct val="102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drivers, constructors, circuits, strategy &amp; championships — no spreadsheets, no queries.</a:t>
            </a:r>
            <a:endParaRPr lang="en-US" sz="1350" dirty="0"/>
          </a:p>
          <a:p>
            <a:pPr marL="177800" indent="-177800">
              <a:lnSpc>
                <a:spcPct val="102000"/>
              </a:lnSpc>
              <a:buSzPct val="100000"/>
              <a:buChar char="•"/>
            </a:pPr>
            <a:r>
              <a:rPr lang="en-US" sz="13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module reads one cleaned, feature-engineered table, so every chart stays mutually consistent.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66928" y="5166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5486400"/>
            <a:ext cx="921715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48640" y="5486400"/>
            <a:ext cx="9217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1698955" y="5486400"/>
            <a:ext cx="921715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1698955" y="5486400"/>
            <a:ext cx="9217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849270" y="5486400"/>
            <a:ext cx="742493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849270" y="5486400"/>
            <a:ext cx="74249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3820363" y="5486400"/>
            <a:ext cx="921715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820363" y="5486400"/>
            <a:ext cx="92171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Plotly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970678" y="5486400"/>
            <a:ext cx="2445106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70678" y="5486400"/>
            <a:ext cx="244510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dash-bootstrap (CYBORG)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7644384" y="5486400"/>
            <a:ext cx="1011326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7644384" y="5486400"/>
            <a:ext cx="101132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Leaflet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&amp; The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· CLEANING · FEATURE ENGINEERING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999427" cy="1600200"/>
          </a:xfrm>
          <a:prstGeom prst="roundRect">
            <a:avLst>
              <a:gd name="adj" fmla="val 514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10512"/>
            <a:ext cx="19994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2,559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48640" y="2496312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driver–race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822387" y="1554480"/>
            <a:ext cx="1999427" cy="1600200"/>
          </a:xfrm>
          <a:prstGeom prst="roundRect">
            <a:avLst>
              <a:gd name="adj" fmla="val 514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22387" y="1810512"/>
            <a:ext cx="19994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2019–24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2822387" y="2496312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seasons</a:t>
            </a:r>
            <a:endParaRPr lang="en-US" sz="12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96134" y="1554480"/>
            <a:ext cx="1999427" cy="1600200"/>
          </a:xfrm>
          <a:prstGeom prst="roundRect">
            <a:avLst>
              <a:gd name="adj" fmla="val 514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96134" y="1810512"/>
            <a:ext cx="19994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096134" y="2496312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69881" y="1554480"/>
            <a:ext cx="1999427" cy="1600200"/>
          </a:xfrm>
          <a:prstGeom prst="roundRect">
            <a:avLst>
              <a:gd name="adj" fmla="val 514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69881" y="1810512"/>
            <a:ext cx="19994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7369881" y="2496312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643628" y="1554480"/>
            <a:ext cx="1999427" cy="1600200"/>
          </a:xfrm>
          <a:prstGeom prst="roundRect">
            <a:avLst>
              <a:gd name="adj" fmla="val 514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43628" y="1810512"/>
            <a:ext cx="1999427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643628" y="2496312"/>
            <a:ext cx="19994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5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11094415" cy="2651760"/>
          </a:xfrm>
          <a:prstGeom prst="roundRect">
            <a:avLst>
              <a:gd name="adj" fmla="val 3103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703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relational tables → one analytical table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68680" y="4343400"/>
            <a:ext cx="2395728" cy="1600200"/>
          </a:xfrm>
          <a:prstGeom prst="roundRect">
            <a:avLst>
              <a:gd name="adj" fmla="val 5143"/>
            </a:avLst>
          </a:prstGeom>
          <a:solidFill>
            <a:srgbClr val="2A2A3A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773936" y="4526280"/>
            <a:ext cx="585216" cy="585216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6092" y="4678436"/>
            <a:ext cx="280904" cy="28090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868680" y="51480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Ergast API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978408" y="540410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 to 2019–24; filter every race-dependent table by raceId</a:t>
            </a:r>
            <a:endParaRPr lang="en-US" sz="9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1629" y="4846320"/>
            <a:ext cx="256032" cy="256032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3554882" y="4343400"/>
            <a:ext cx="2395728" cy="1600200"/>
          </a:xfrm>
          <a:prstGeom prst="roundRect">
            <a:avLst>
              <a:gd name="adj" fmla="val 5143"/>
            </a:avLst>
          </a:prstGeom>
          <a:solidFill>
            <a:srgbClr val="2A2A3A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460138" y="4526280"/>
            <a:ext cx="585216" cy="585216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2295" y="4678436"/>
            <a:ext cx="280904" cy="28090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3554882" y="51480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&amp; Validate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3664610" y="540410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checked, dates parsed, no duplicate (raceId, driverId)</a:t>
            </a:r>
            <a:endParaRPr lang="en-US" sz="9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7832" y="4846320"/>
            <a:ext cx="256032" cy="256032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41085" y="4343400"/>
            <a:ext cx="2395728" cy="1600200"/>
          </a:xfrm>
          <a:prstGeom prst="roundRect">
            <a:avLst>
              <a:gd name="adj" fmla="val 5143"/>
            </a:avLst>
          </a:prstGeom>
          <a:solidFill>
            <a:srgbClr val="2A2A3A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146341" y="4526280"/>
            <a:ext cx="585216" cy="585216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497" y="4678436"/>
            <a:ext cx="280904" cy="28090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6241085" y="51480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6350813" y="540410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 times &amp; pit stops rolled up to one row per driver-race</a:t>
            </a:r>
            <a:endParaRPr lang="en-US" sz="9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4034" y="4846320"/>
            <a:ext cx="256032" cy="256032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8927287" y="4343400"/>
            <a:ext cx="2395728" cy="1600200"/>
          </a:xfrm>
          <a:prstGeom prst="roundRect">
            <a:avLst>
              <a:gd name="adj" fmla="val 5143"/>
            </a:avLst>
          </a:prstGeom>
          <a:solidFill>
            <a:srgbClr val="2A2A3A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832543" y="4526280"/>
            <a:ext cx="585216" cy="585216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84699" y="4678436"/>
            <a:ext cx="280904" cy="280904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8927287" y="5148072"/>
            <a:ext cx="2395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→ Features</a:t>
            </a:r>
            <a:endParaRPr lang="en-US" sz="1300" dirty="0"/>
          </a:p>
        </p:txBody>
      </p:sp>
      <p:sp>
        <p:nvSpPr>
          <p:cNvPr id="43" name="Text 34"/>
          <p:cNvSpPr/>
          <p:nvPr/>
        </p:nvSpPr>
        <p:spPr>
          <a:xfrm>
            <a:off x="9037015" y="5404104"/>
            <a:ext cx="2176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denormalized table + shared performance metrics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Dashboard — Seven Modules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72288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4412" y="1911096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6078" y="2072762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372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&amp; Data Quality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9448" y="2953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Scale, coverage &amp; missingness at a glance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352648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4772" y="1911096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438" y="2072762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4408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vs Race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89808" y="2953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grid predict the finish?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33008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5132" y="1911096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6798" y="2072762"/>
            <a:ext cx="298460" cy="2984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2444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Championship Evolution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70168" y="2953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title fights evolved race-by-race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9113368" y="1691640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05492" y="1911096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158" y="2072762"/>
            <a:ext cx="298460" cy="2984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04808" y="26060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Performance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250528" y="29535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Multi-metric, head-to-head profiles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1912468" y="363931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2904592" y="3858768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66258" y="4020434"/>
            <a:ext cx="298460" cy="2984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003908" y="4553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Evolution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2049628" y="4901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rise, decline &amp; reliability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792828" y="363931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5784952" y="3858768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6618" y="4020434"/>
            <a:ext cx="298460" cy="2984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84268" y="4553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Intelligence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929988" y="4901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Speed, overtaking &amp; reliability by track</a:t>
            </a:r>
            <a:endParaRPr lang="en-US" sz="950" dirty="0"/>
          </a:p>
        </p:txBody>
      </p:sp>
      <p:sp>
        <p:nvSpPr>
          <p:cNvPr id="34" name="Shape 26"/>
          <p:cNvSpPr/>
          <p:nvPr/>
        </p:nvSpPr>
        <p:spPr>
          <a:xfrm>
            <a:off x="7673188" y="3639312"/>
            <a:ext cx="2606040" cy="1691640"/>
          </a:xfrm>
          <a:prstGeom prst="roundRect">
            <a:avLst>
              <a:gd name="adj" fmla="val 4865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665312" y="3858768"/>
            <a:ext cx="621792" cy="621792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26978" y="4020434"/>
            <a:ext cx="298460" cy="298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64628" y="455371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Strategy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7810348" y="490118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stops vs. race outcomes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Data Told 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HEADLINE CONCLUSIONS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859536"/>
          </a:xfrm>
          <a:prstGeom prst="roundRect">
            <a:avLst>
              <a:gd name="adj" fmla="val 9574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46504"/>
            <a:ext cx="566928" cy="566928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361" y="1893905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19072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Qualifying matters — but doesn't decide.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029968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Grid–finish correlation is a moderate r = 0.33; race day can still overturn a poor start (Vettel +18 in one race).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642616"/>
            <a:ext cx="11094415" cy="859536"/>
          </a:xfrm>
          <a:prstGeom prst="roundRect">
            <a:avLst>
              <a:gd name="adj" fmla="val 9574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788920"/>
            <a:ext cx="566928" cy="566928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361" y="293632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2761488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shifted mid-era.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00200" y="3072384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Mercedes led 2019–2021; Red Bull overtook from 2022, finishing 2024 within a few points cumulatively.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685032"/>
            <a:ext cx="11094415" cy="859536"/>
          </a:xfrm>
          <a:prstGeom prst="roundRect">
            <a:avLst>
              <a:gd name="adj" fmla="val 9574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" y="3831336"/>
            <a:ext cx="566928" cy="566928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61" y="39787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803904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track sets the pace.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114800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~89 km/h gap separates the fastest (Monza) and slowest (Monaco) circuits — layout beats car development.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727448"/>
            <a:ext cx="11094415" cy="859536"/>
          </a:xfrm>
          <a:prstGeom prst="roundRect">
            <a:avLst>
              <a:gd name="adj" fmla="val 9574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873752"/>
            <a:ext cx="566928" cy="566928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0361" y="502115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00200" y="4846320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Pace beats the pit lane.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600200" y="5157216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 duration &amp; count show ~0 correlation with positions gained (−0.11, −0.04); pace rank drives finish (r = 0.83).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769864"/>
            <a:ext cx="11094415" cy="859536"/>
          </a:xfrm>
          <a:prstGeom prst="roundRect">
            <a:avLst>
              <a:gd name="adj" fmla="val 9574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22960" y="5916168"/>
            <a:ext cx="566928" cy="566928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0361" y="6063569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888736"/>
            <a:ext cx="9784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pipeline, consistent everywhere.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6199632"/>
            <a:ext cx="9829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feature-engineered table keeps every chart in the dashboard mutually consistent.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Built What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DISTRIBUTION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19656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0020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Shreyansh Singh  &amp;  Daksh Singh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00800" y="160020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pipeline, Qualifying-vs-Race analysis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432304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4672" y="2532888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2651760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432304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Nishant Singh  &amp;  Harsh Maheshwari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6400800" y="243230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shell, Overview page &amp; Championship Evolution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264408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64992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348386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264408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Pruthviraj Meghe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00800" y="326440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Performance Explorer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096512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197096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4315968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096512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Snehasish Haldar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6400800" y="409651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Constructor Evolution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28616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5029200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14807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63040" y="4928616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Pratik Kumar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6400800" y="492861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Intelligence (incl. geographic view)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548640" y="5760720"/>
            <a:ext cx="11094415" cy="658368"/>
          </a:xfrm>
          <a:prstGeom prst="roundRect">
            <a:avLst>
              <a:gd name="adj" fmla="val 12500"/>
            </a:avLst>
          </a:prstGeom>
          <a:solidFill>
            <a:srgbClr val="1F1F2B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04672" y="5861304"/>
            <a:ext cx="457200" cy="4572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5980176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63040" y="5760720"/>
            <a:ext cx="4846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Vishal Kumar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6400800" y="57607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Strategy Analysis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777240"/>
            <a:ext cx="914400" cy="914400"/>
          </a:xfrm>
          <a:prstGeom prst="ellipse">
            <a:avLst/>
          </a:prstGeom>
          <a:solidFill>
            <a:srgbClr val="E10600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101498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48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E10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02920" y="2487168"/>
            <a:ext cx="11155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See It Live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walkthrough of the interactive dashboard — filtering, drill-downs &amp; each of the seven modules.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4343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9A9A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ALONG THE WAY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2961742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4663440"/>
            <a:ext cx="29617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Relational → analytical transform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738982" y="4663440"/>
            <a:ext cx="4100170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738982" y="4663440"/>
            <a:ext cx="41001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DNF-flag ambiguity (42.4% flagged vs 14.6% true)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067751" y="4663440"/>
            <a:ext cx="3265322" cy="475488"/>
          </a:xfrm>
          <a:prstGeom prst="roundRect">
            <a:avLst>
              <a:gd name="adj" fmla="val 50000"/>
            </a:avLst>
          </a:prstGeom>
          <a:solidFill>
            <a:srgbClr val="2A2A3A"/>
          </a:solidFill>
          <a:ln w="12700">
            <a:solidFill>
              <a:srgbClr val="E106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67751" y="4663440"/>
            <a:ext cx="32653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Overlapping points → density / jitter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806440"/>
            <a:ext cx="502920" cy="502920"/>
          </a:xfrm>
          <a:prstGeom prst="ellipse">
            <a:avLst/>
          </a:prstGeom>
          <a:solidFill>
            <a:srgbClr val="2A2A3A"/>
          </a:solidFill>
          <a:ln/>
          <a:effectLst>
            <a:outerShdw blurRad="1016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5937199"/>
            <a:ext cx="241402" cy="24140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70432" y="580644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9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github.com/sssinghm/CS661-F1-Insights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927</Words>
  <Application>Microsoft Office PowerPoint</Application>
  <PresentationFormat>Widescreen</PresentationFormat>
  <Paragraphs>107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Nishant Singh</cp:lastModifiedBy>
  <cp:revision>3</cp:revision>
  <dcterms:created xsi:type="dcterms:W3CDTF">2026-07-13T07:57:08Z</dcterms:created>
  <dcterms:modified xsi:type="dcterms:W3CDTF">2026-07-14T04:34:38Z</dcterms:modified>
</cp:coreProperties>
</file>